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kram Adhikari (bdhikari)" userId="82db7b63-ebde-4781-8e8d-5e4948076394" providerId="ADAL" clId="{74B877B8-BDCC-4010-9A3D-753242C9A421}"/>
    <pc:docChg chg="modSld">
      <pc:chgData name="Bikram Adhikari (bdhikari)" userId="82db7b63-ebde-4781-8e8d-5e4948076394" providerId="ADAL" clId="{74B877B8-BDCC-4010-9A3D-753242C9A421}" dt="2025-12-02T23:04:47.691" v="71" actId="20577"/>
      <pc:docMkLst>
        <pc:docMk/>
      </pc:docMkLst>
      <pc:sldChg chg="modSp mod">
        <pc:chgData name="Bikram Adhikari (bdhikari)" userId="82db7b63-ebde-4781-8e8d-5e4948076394" providerId="ADAL" clId="{74B877B8-BDCC-4010-9A3D-753242C9A421}" dt="2025-12-02T23:04:47.691" v="71" actId="20577"/>
        <pc:sldMkLst>
          <pc:docMk/>
          <pc:sldMk cId="2157763358" sldId="256"/>
        </pc:sldMkLst>
        <pc:spChg chg="mod">
          <ac:chgData name="Bikram Adhikari (bdhikari)" userId="82db7b63-ebde-4781-8e8d-5e4948076394" providerId="ADAL" clId="{74B877B8-BDCC-4010-9A3D-753242C9A421}" dt="2025-12-02T23:04:45.257" v="70" actId="20577"/>
          <ac:spMkLst>
            <pc:docMk/>
            <pc:sldMk cId="2157763358" sldId="256"/>
            <ac:spMk id="16" creationId="{F28C2540-4686-F982-5B3F-F522C4181B84}"/>
          </ac:spMkLst>
        </pc:spChg>
        <pc:spChg chg="mod">
          <ac:chgData name="Bikram Adhikari (bdhikari)" userId="82db7b63-ebde-4781-8e8d-5e4948076394" providerId="ADAL" clId="{74B877B8-BDCC-4010-9A3D-753242C9A421}" dt="2025-12-02T23:04:39.361" v="66" actId="20577"/>
          <ac:spMkLst>
            <pc:docMk/>
            <pc:sldMk cId="2157763358" sldId="256"/>
            <ac:spMk id="17" creationId="{870EBBA5-B922-8F33-DA08-7073CB6AB8A2}"/>
          </ac:spMkLst>
        </pc:spChg>
        <pc:spChg chg="mod">
          <ac:chgData name="Bikram Adhikari (bdhikari)" userId="82db7b63-ebde-4781-8e8d-5e4948076394" providerId="ADAL" clId="{74B877B8-BDCC-4010-9A3D-753242C9A421}" dt="2025-12-02T23:04:42.381" v="69" actId="20577"/>
          <ac:spMkLst>
            <pc:docMk/>
            <pc:sldMk cId="2157763358" sldId="256"/>
            <ac:spMk id="18" creationId="{42BF82E0-06F4-CF1E-84CA-B5EC7A460E42}"/>
          </ac:spMkLst>
        </pc:spChg>
        <pc:spChg chg="mod">
          <ac:chgData name="Bikram Adhikari (bdhikari)" userId="82db7b63-ebde-4781-8e8d-5e4948076394" providerId="ADAL" clId="{74B877B8-BDCC-4010-9A3D-753242C9A421}" dt="2025-12-02T23:04:47.691" v="71" actId="20577"/>
          <ac:spMkLst>
            <pc:docMk/>
            <pc:sldMk cId="2157763358" sldId="256"/>
            <ac:spMk id="19" creationId="{817F4A46-6FC2-86EB-6157-C255188F5EF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livememphis-my.sharepoint.com/personal/bdhikari_memphis_edu/Documents/1%20PhD%20program%20Contents/2%20Projects/Undernutrition%20and%20anemia/Results/Figure%20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livememphis-my.sharepoint.com/personal/bdhikari_memphis_edu/Documents/1%20PhD%20program%20Contents/2%20Projects/Undernutrition%20and%20anemia/Results/Figure%20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livememphis-my.sharepoint.com/personal/bdhikari_memphis_edu/Documents/1%20PhD%20program%20Contents/2%20Projects/Undernutrition%20and%20anemia/Results/Figure%20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livememphis-my.sharepoint.com/personal/bdhikari_memphis_edu/Documents/1%20PhD%20program%20Contents/2%20Projects/Undernutrition%20and%20anemia/Results/Figure%20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livememphis-my.sharepoint.com/personal/bdhikari_memphis_edu/Documents/1%20PhD%20program%20Contents/2%20Projects/Undernutrition%20and%20anemia/Results/Figure%20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051262353931839"/>
          <c:y val="2.9941542012661797E-2"/>
          <c:w val="0.55897455594786116"/>
          <c:h val="0.8404327057912766"/>
        </c:manualLayout>
      </c:layout>
      <c:pieChart>
        <c:varyColors val="1"/>
        <c:ser>
          <c:idx val="0"/>
          <c:order val="0"/>
          <c:spPr>
            <a:ln w="0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755-40DE-A229-0806B19AC8CE}"/>
              </c:ext>
            </c:extLst>
          </c:dPt>
          <c:dPt>
            <c:idx val="1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755-40DE-A229-0806B19AC8CE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755-40DE-A229-0806B19AC8C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A93113E-2E28-4690-A96E-04FD130CC86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0755-40DE-A229-0806B19AC8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3EFD557-FD9B-47FC-83AB-2D6594401DD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0755-40DE-A229-0806B19AC8C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CFC152B-68FE-4D40-8514-D6F946DE7B2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0755-40DE-A229-0806B19AC8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Sheet1!$J$24:$J$26</c:f>
              <c:strCache>
                <c:ptCount val="3"/>
                <c:pt idx="0">
                  <c:v>Normal</c:v>
                </c:pt>
                <c:pt idx="1">
                  <c:v>Mild</c:v>
                </c:pt>
                <c:pt idx="2">
                  <c:v>Moderate to severe</c:v>
                </c:pt>
              </c:strCache>
            </c:strRef>
          </c:cat>
          <c:val>
            <c:numRef>
              <c:f>Sheet1!$K$24:$K$26</c:f>
              <c:numCache>
                <c:formatCode>General</c:formatCode>
                <c:ptCount val="3"/>
                <c:pt idx="0">
                  <c:v>56.6</c:v>
                </c:pt>
                <c:pt idx="1">
                  <c:v>24.6</c:v>
                </c:pt>
                <c:pt idx="2">
                  <c:v>18.8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Sheet1!$M$24:$M$26</c15:f>
                <c15:dlblRangeCache>
                  <c:ptCount val="3"/>
                  <c:pt idx="0">
                    <c:v>56.6%
 (54.0, 59.2)</c:v>
                  </c:pt>
                  <c:pt idx="1">
                    <c:v>24.6%
 (22.7, 26.6)</c:v>
                  </c:pt>
                  <c:pt idx="2">
                    <c:v>18.8%
 (16.8, 20.9)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0755-40DE-A229-0806B19AC8CE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051262353931839"/>
          <c:y val="2.9941542012661797E-2"/>
          <c:w val="0.55897455594786116"/>
          <c:h val="0.8404327057912766"/>
        </c:manualLayout>
      </c:layout>
      <c:pieChart>
        <c:varyColors val="1"/>
        <c:ser>
          <c:idx val="0"/>
          <c:order val="0"/>
          <c:spPr>
            <a:ln w="6350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736-4A06-886A-5884AE722E4A}"/>
              </c:ext>
            </c:extLst>
          </c:dPt>
          <c:dPt>
            <c:idx val="1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736-4A06-886A-5884AE722E4A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736-4A06-886A-5884AE722E4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B7A7E171-FBE9-4D54-95D7-CA522FE585B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9736-4A06-886A-5884AE722E4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9385993-8D82-4527-A159-4D80CF69C52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9736-4A06-886A-5884AE722E4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4FBD8CC-D2D7-4AB0-80A2-2F1903380C4D}" type="CELLRANGE">
                      <a:rPr lang="en-US" dirty="0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separator>to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9736-4A06-886A-5884AE722E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Sheet1!$J$30:$J$32</c:f>
              <c:strCache>
                <c:ptCount val="3"/>
                <c:pt idx="0">
                  <c:v>Normal</c:v>
                </c:pt>
                <c:pt idx="1">
                  <c:v>Mild</c:v>
                </c:pt>
                <c:pt idx="2">
                  <c:v>Moderate to severe</c:v>
                </c:pt>
              </c:strCache>
            </c:strRef>
          </c:cat>
          <c:val>
            <c:numRef>
              <c:f>Sheet1!$K$30:$K$32</c:f>
              <c:numCache>
                <c:formatCode>General</c:formatCode>
                <c:ptCount val="3"/>
                <c:pt idx="0">
                  <c:v>28.9</c:v>
                </c:pt>
                <c:pt idx="1">
                  <c:v>31.1</c:v>
                </c:pt>
                <c:pt idx="2">
                  <c:v>39.9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Sheet1!$M$30:$M$32</c15:f>
                <c15:dlblRangeCache>
                  <c:ptCount val="3"/>
                  <c:pt idx="0">
                    <c:v>28.9%
 (22.9, 35.8)</c:v>
                  </c:pt>
                  <c:pt idx="1">
                    <c:v>31.1%
 (24.7, 38.4)</c:v>
                  </c:pt>
                  <c:pt idx="2">
                    <c:v>39.9%
 (33.2, 47.1)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9736-4A06-886A-5884AE722E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051262353931839"/>
          <c:y val="2.9941542012661797E-2"/>
          <c:w val="0.55897455594786116"/>
          <c:h val="0.8404327057912766"/>
        </c:manualLayout>
      </c:layout>
      <c:pieChart>
        <c:varyColors val="1"/>
        <c:ser>
          <c:idx val="0"/>
          <c:order val="0"/>
          <c:spPr>
            <a:ln w="9525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685-4A4D-991E-CC68C62ADBD6}"/>
              </c:ext>
            </c:extLst>
          </c:dPt>
          <c:dPt>
            <c:idx val="1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685-4A4D-991E-CC68C62ADBD6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685-4A4D-991E-CC68C62ADBD6}"/>
              </c:ext>
            </c:extLst>
          </c:dPt>
          <c:dLbls>
            <c:dLbl>
              <c:idx val="0"/>
              <c:layout>
                <c:manualLayout>
                  <c:x val="-0.17584691219413709"/>
                  <c:y val="-3.2815388335061521E-2"/>
                </c:manualLayout>
              </c:layout>
              <c:tx>
                <c:rich>
                  <a:bodyPr/>
                  <a:lstStyle/>
                  <a:p>
                    <a:fld id="{4F0FEF13-37B5-48C2-AB3F-D81CA1ABF5C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F685-4A4D-991E-CC68C62ADBD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C30B060-18B3-478E-916F-72C17074B64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F685-4A4D-991E-CC68C62ADBD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EBBE005-3532-407C-8DD0-3D29535C0B9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F685-4A4D-991E-CC68C62ADB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Sheet1!$J$35:$J$37</c:f>
              <c:strCache>
                <c:ptCount val="3"/>
                <c:pt idx="0">
                  <c:v>Normal</c:v>
                </c:pt>
                <c:pt idx="1">
                  <c:v>Mild</c:v>
                </c:pt>
                <c:pt idx="2">
                  <c:v>Moderate to severe</c:v>
                </c:pt>
              </c:strCache>
            </c:strRef>
          </c:cat>
          <c:val>
            <c:numRef>
              <c:f>Sheet1!$K$35:$K$37</c:f>
              <c:numCache>
                <c:formatCode>General</c:formatCode>
                <c:ptCount val="3"/>
                <c:pt idx="0">
                  <c:v>48.5</c:v>
                </c:pt>
                <c:pt idx="1">
                  <c:v>27.6</c:v>
                </c:pt>
                <c:pt idx="2">
                  <c:v>23.8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Sheet1!$M$35:$M$37</c15:f>
                <c15:dlblRangeCache>
                  <c:ptCount val="3"/>
                  <c:pt idx="0">
                    <c:v>48.5%
 (45.1, 52.0)</c:v>
                  </c:pt>
                  <c:pt idx="1">
                    <c:v>27.6%
 (24.8, 30.7)</c:v>
                  </c:pt>
                  <c:pt idx="2">
                    <c:v>23.8%
 (20.8, 27.1)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F685-4A4D-991E-CC68C62ADBD6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051262353931839"/>
          <c:y val="2.9941542012661797E-2"/>
          <c:w val="0.55897455594786116"/>
          <c:h val="0.8404327057912766"/>
        </c:manualLayout>
      </c:layout>
      <c:pieChart>
        <c:varyColors val="1"/>
        <c:ser>
          <c:idx val="0"/>
          <c:order val="0"/>
          <c:spPr>
            <a:ln w="6350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604-4474-B364-2472AA6AAC99}"/>
              </c:ext>
            </c:extLst>
          </c:dPt>
          <c:dPt>
            <c:idx val="1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604-4474-B364-2472AA6AAC99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604-4474-B364-2472AA6AAC9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BF26D171-8D27-4FD2-B887-2F26390254D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C604-4474-B364-2472AA6AAC99}"/>
                </c:ext>
              </c:extLst>
            </c:dLbl>
            <c:dLbl>
              <c:idx val="1"/>
              <c:layout>
                <c:manualLayout>
                  <c:x val="-1.1989777075238036E-3"/>
                  <c:y val="6.6328725789337756E-3"/>
                </c:manualLayout>
              </c:layout>
              <c:tx>
                <c:rich>
                  <a:bodyPr/>
                  <a:lstStyle/>
                  <a:p>
                    <a:fld id="{439BD0A7-1ED8-4027-A20E-047EFB3A27F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604-4474-B364-2472AA6AAC99}"/>
                </c:ext>
              </c:extLst>
            </c:dLbl>
            <c:dLbl>
              <c:idx val="2"/>
              <c:layout>
                <c:manualLayout>
                  <c:x val="7.5725841532378282E-2"/>
                  <c:y val="7.510775301258972E-2"/>
                </c:manualLayout>
              </c:layout>
              <c:tx>
                <c:rich>
                  <a:bodyPr/>
                  <a:lstStyle/>
                  <a:p>
                    <a:fld id="{A706B00C-8D49-414E-85B9-43689AB2C6F6}" type="CELLRANGE">
                      <a:rPr lang="en-US" dirty="0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C604-4474-B364-2472AA6AAC9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Sheet1!$J$40:$J$42</c:f>
              <c:strCache>
                <c:ptCount val="3"/>
                <c:pt idx="0">
                  <c:v>Normal</c:v>
                </c:pt>
                <c:pt idx="1">
                  <c:v>Mild</c:v>
                </c:pt>
                <c:pt idx="2">
                  <c:v>Moderate to severe</c:v>
                </c:pt>
              </c:strCache>
            </c:strRef>
          </c:cat>
          <c:val>
            <c:numRef>
              <c:f>Sheet1!$K$40:$K$42</c:f>
              <c:numCache>
                <c:formatCode>General</c:formatCode>
                <c:ptCount val="3"/>
                <c:pt idx="0">
                  <c:v>71.7</c:v>
                </c:pt>
                <c:pt idx="1">
                  <c:v>19.8</c:v>
                </c:pt>
                <c:pt idx="2">
                  <c:v>8.4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Sheet1!$M$40:$M$42</c15:f>
                <c15:dlblRangeCache>
                  <c:ptCount val="3"/>
                  <c:pt idx="0">
                    <c:v>71.7%
 (68.1, 75.1)</c:v>
                  </c:pt>
                  <c:pt idx="1">
                    <c:v>19.8%
 (17.1, 22.9)</c:v>
                  </c:pt>
                  <c:pt idx="2">
                    <c:v>8.4%
 (6.7, 10.6)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C604-4474-B364-2472AA6AAC9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65005958054125912"/>
          <c:y val="2.9941542012661797E-2"/>
          <c:w val="0.30737146683480204"/>
          <c:h val="0.46489392656235945"/>
        </c:manualLayout>
      </c:layout>
      <c:pieChart>
        <c:varyColors val="1"/>
        <c:ser>
          <c:idx val="0"/>
          <c:order val="0"/>
          <c:spPr>
            <a:ln w="6350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515-49A4-B2D5-DD53F78A1A4B}"/>
              </c:ext>
            </c:extLst>
          </c:dPt>
          <c:dPt>
            <c:idx val="1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515-49A4-B2D5-DD53F78A1A4B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515-49A4-B2D5-DD53F78A1A4B}"/>
              </c:ext>
            </c:extLst>
          </c:dPt>
          <c:dLbls>
            <c:delete val="1"/>
          </c:dLbls>
          <c:cat>
            <c:strRef>
              <c:f>Sheet1!$J$40:$J$42</c:f>
              <c:strCache>
                <c:ptCount val="3"/>
                <c:pt idx="0">
                  <c:v>Normal</c:v>
                </c:pt>
                <c:pt idx="1">
                  <c:v>Mild</c:v>
                </c:pt>
                <c:pt idx="2">
                  <c:v>Moderate to severe</c:v>
                </c:pt>
              </c:strCache>
            </c:strRef>
          </c:cat>
          <c:val>
            <c:numRef>
              <c:f>Sheet1!$K$40:$K$42</c:f>
              <c:numCache>
                <c:formatCode>General</c:formatCode>
                <c:ptCount val="3"/>
                <c:pt idx="0">
                  <c:v>71.7</c:v>
                </c:pt>
                <c:pt idx="1">
                  <c:v>19.8</c:v>
                </c:pt>
                <c:pt idx="2">
                  <c:v>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515-49A4-B2D5-DD53F78A1A4B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0.10676598386095593"/>
          <c:y val="0.51546214332688312"/>
          <c:w val="0.51752645444459111"/>
          <c:h val="0.4845378566731169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2CD0-C43F-1018-198F-52D3E2D27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5BD42-D81E-5848-7B27-98ECC5A90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03B9B-2C25-C900-F759-6E1E12C35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2075D-6D6E-5674-B329-71119FBF4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7B7B8-1FC0-98C5-E36A-D129080E8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22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747F9-A31D-D003-BEBD-09A5C13AC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C388-8142-61F2-6584-2E1E61775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18B44-89AB-C51E-111E-44506403B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FB3E2-DE1E-DE41-5155-E0F0AAF5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9E4D1-FC9C-19FC-D8D8-EAAD155BD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98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0F5DB-260C-C8DF-B717-7CE6F4FA0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F0526-F231-0F65-D2D4-CF8A3F375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7FFF3-E265-931C-D094-F9B3EC46A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E027E-359B-3659-8A84-B38F9328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BD95E-AEAC-F9C7-4483-97ED2C95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51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BA83F-2C89-7486-3D1F-41AC8AAA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84D2C-D82E-6DBB-8F5D-FC605D46E2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D4301F-0CEA-8200-5550-4899D63DE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19B9E-A570-D7B4-4C1C-D7B40FE47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E863B-554B-3FC0-02C7-B4D881B9B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378D2-7E12-422E-683D-5BBBC2F29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09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F86B8-C40B-19B8-93A0-68AF56283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B8807-913A-B1BA-96D8-F1DD0BB10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F8147-6AA3-E807-CA57-B315A05D7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03755-F731-9876-44F9-A00A73D212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A8A797-0697-A309-ACFF-F8BA8EF1B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B7E278-2537-621C-451D-8CFC2C3AA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B23366-4859-B89C-EAF9-E9D73EFE8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C0D8EF-8B0A-28C9-C02D-A1478255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9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C6DD2-63E9-68B2-8BEE-1F922DF88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03B5A1-B719-ECFB-C7C8-5B0CD6643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B7545A-F98F-C456-E42C-854CBDD6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09C0-B913-3CCD-D98C-05ED6DC7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10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06A8DF-822B-4B3C-1E53-A1A4440BA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C0B43A-7FDC-E537-F955-4F8B15C0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018D9-B9FC-53EA-B50C-EE29F96C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58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71A23-DE27-22E1-576D-8F03D8E72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D3F2E-CBC5-D179-73FF-D88C731F1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AA2AF-9AED-BD1D-F711-EDE5981CA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08D6B-14E5-A65B-180C-ED46F013B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727F7-E9F2-3D2B-D57D-84B9ED253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85FF4-C4B7-439E-714F-0CDD3A8D5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82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1F680-AC07-D934-B4A8-913F2187B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A1F6EC-32E2-33F9-CAE0-8A263FF18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FDE041-2893-472D-36DE-358D584E6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AC0A5-CBAF-AE0F-BB75-E9B31290A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736F0-4C30-A4C8-9C75-49CEEDF7E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5FAFB-075A-0221-4E9D-767E124EF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31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0FF9-2168-155A-FB55-A4853C66F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434041-0F66-C45C-6D05-94CCE745C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3D526-9B0D-11EA-BAD4-E26815CCB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1288A-ECD3-D5BD-6CEF-3BD48A2F1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3B75A-A6BD-E610-7C59-C7966948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90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A3751-8CF1-2CA0-3B79-4EE1220F22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56CFE-1875-FDEB-ECE5-46498E13D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8F832-1E76-5655-2D85-8FF813783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D5DFB-9946-CE75-F821-64660A273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CFEFF-C3E3-4E57-9C30-AF50E5967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509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F3F90F-37AD-9DCD-4E96-592DA4A48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A162C-19A4-961E-C951-0DFFB1A0C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9B989-BC52-8913-A7EC-F1503E274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516964-3D67-4020-B602-C5D313094ED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1287F-8A87-7307-3DD6-B7F29F814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9BD7A-3214-FD8E-E2D2-4AA54ABBF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07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4AB35C75-1299-4600-9AE5-44523D4AA3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440898"/>
              </p:ext>
            </p:extLst>
          </p:nvPr>
        </p:nvGraphicFramePr>
        <p:xfrm>
          <a:off x="5315468" y="3715114"/>
          <a:ext cx="5095875" cy="3435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83C070D7-8046-4EC0-B493-A141A85853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7277940"/>
              </p:ext>
            </p:extLst>
          </p:nvPr>
        </p:nvGraphicFramePr>
        <p:xfrm>
          <a:off x="-226238" y="404310"/>
          <a:ext cx="5076825" cy="33973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24F243EA-328B-4160-98D9-6E04AE13CA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6401920"/>
              </p:ext>
            </p:extLst>
          </p:nvPr>
        </p:nvGraphicFramePr>
        <p:xfrm>
          <a:off x="5364825" y="401408"/>
          <a:ext cx="5076825" cy="33947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348E2C99-E788-4770-A579-BDD0102B6C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5350345"/>
              </p:ext>
            </p:extLst>
          </p:nvPr>
        </p:nvGraphicFramePr>
        <p:xfrm>
          <a:off x="-143674" y="3748019"/>
          <a:ext cx="5114925" cy="3381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FA1A943B-222F-914B-BADF-88082FECBC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5496368"/>
              </p:ext>
            </p:extLst>
          </p:nvPr>
        </p:nvGraphicFramePr>
        <p:xfrm>
          <a:off x="9121060" y="962652"/>
          <a:ext cx="5114925" cy="3381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28C2540-4686-F982-5B3F-F522C4181B84}"/>
              </a:ext>
            </a:extLst>
          </p:cNvPr>
          <p:cNvSpPr txBox="1"/>
          <p:nvPr/>
        </p:nvSpPr>
        <p:spPr>
          <a:xfrm>
            <a:off x="5393709" y="3380980"/>
            <a:ext cx="4746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Children aged 6-59 months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0EBBA5-B922-8F33-DA08-7073CB6AB8A2}"/>
              </a:ext>
            </a:extLst>
          </p:cNvPr>
          <p:cNvSpPr txBox="1"/>
          <p:nvPr/>
        </p:nvSpPr>
        <p:spPr>
          <a:xfrm>
            <a:off x="165620" y="32076"/>
            <a:ext cx="6086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Children aged 6 months to 12 months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BF82E0-06F4-CF1E-84CA-B5EC7A460E42}"/>
              </a:ext>
            </a:extLst>
          </p:cNvPr>
          <p:cNvSpPr txBox="1"/>
          <p:nvPr/>
        </p:nvSpPr>
        <p:spPr>
          <a:xfrm>
            <a:off x="5426832" y="24912"/>
            <a:ext cx="4746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Children aged 13-36 months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7F4A46-6FC2-86EB-6157-C255188F5EF9}"/>
              </a:ext>
            </a:extLst>
          </p:cNvPr>
          <p:cNvSpPr txBox="1"/>
          <p:nvPr/>
        </p:nvSpPr>
        <p:spPr>
          <a:xfrm>
            <a:off x="165056" y="3371524"/>
            <a:ext cx="4454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Children aged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37-59 months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49A8A2-615A-81B2-021B-D1C22859450C}"/>
              </a:ext>
            </a:extLst>
          </p:cNvPr>
          <p:cNvSpPr txBox="1"/>
          <p:nvPr/>
        </p:nvSpPr>
        <p:spPr>
          <a:xfrm>
            <a:off x="8520113" y="6513742"/>
            <a:ext cx="3881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Values are expressed as % (95% CI)</a:t>
            </a:r>
          </a:p>
        </p:txBody>
      </p:sp>
    </p:spTree>
    <p:extLst>
      <p:ext uri="{BB962C8B-B14F-4D97-AF65-F5344CB8AC3E}">
        <p14:creationId xmlns:p14="http://schemas.microsoft.com/office/powerpoint/2010/main" val="2157763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41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>The University of Memphis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Bikram Adhikari (bdhikari)</dc:creator>
  <cp:lastModifiedBy>Bikram Adhikari (bdhikari)</cp:lastModifiedBy>
  <cp:revision>1</cp:revision>
  <dcterms:created xsi:type="dcterms:W3CDTF">2025-10-16T14:51:53Z</dcterms:created>
  <dcterms:modified xsi:type="dcterms:W3CDTF">2025-12-02T23:04:48Z</dcterms:modified>
</cp:coreProperties>
</file>